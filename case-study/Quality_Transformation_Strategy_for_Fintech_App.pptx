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99779e5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99779e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99779e59e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99779e59e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99779e59e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99779e59e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99779e59e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99779e59e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99779e59e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99779e59e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99779e59e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99779e59e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99779e59e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99779e59e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99779e59e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b99779e59e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99779e59e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b99779e59e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99779e59e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b99779e59e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0" y="223230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98435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1136847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1"/>
                </a:solidFill>
              </a:rPr>
              <a:t>Quality Transformation Strategy for Fintech App</a:t>
            </a:r>
            <a:endParaRPr sz="3700">
              <a:solidFill>
                <a:schemeClr val="dk1"/>
              </a:solidFill>
            </a:endParaRPr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17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Youverify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47"/>
          <p:cNvSpPr txBox="1"/>
          <p:nvPr/>
        </p:nvSpPr>
        <p:spPr>
          <a:xfrm>
            <a:off x="126475" y="2526250"/>
            <a:ext cx="444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Diagnosing Crashes and Ensuring Cross-Device Consistency</a:t>
            </a:r>
            <a:endParaRPr/>
          </a:p>
        </p:txBody>
      </p:sp>
      <p:sp>
        <p:nvSpPr>
          <p:cNvPr id="368" name="Google Shape;368;p47"/>
          <p:cNvSpPr txBox="1"/>
          <p:nvPr/>
        </p:nvSpPr>
        <p:spPr>
          <a:xfrm>
            <a:off x="185700" y="3908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Abioye Habib – QA Engineer</a:t>
            </a:r>
            <a:endParaRPr/>
          </a:p>
        </p:txBody>
      </p:sp>
      <p:cxnSp>
        <p:nvCxnSpPr>
          <p:cNvPr id="369" name="Google Shape;369;p47"/>
          <p:cNvCxnSpPr/>
          <p:nvPr/>
        </p:nvCxnSpPr>
        <p:spPr>
          <a:xfrm>
            <a:off x="185700" y="35512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/>
          <p:nvPr/>
        </p:nvSpPr>
        <p:spPr>
          <a:xfrm>
            <a:off x="283884" y="167406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5" name="Google Shape;375;p48"/>
          <p:cNvCxnSpPr/>
          <p:nvPr/>
        </p:nvCxnSpPr>
        <p:spPr>
          <a:xfrm>
            <a:off x="283850" y="2337356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48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8"/>
          <p:cNvCxnSpPr/>
          <p:nvPr/>
        </p:nvCxnSpPr>
        <p:spPr>
          <a:xfrm>
            <a:off x="283850" y="390089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8"/>
          <p:cNvCxnSpPr/>
          <p:nvPr/>
        </p:nvCxnSpPr>
        <p:spPr>
          <a:xfrm>
            <a:off x="283850" y="3119127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48"/>
          <p:cNvSpPr/>
          <p:nvPr/>
        </p:nvSpPr>
        <p:spPr>
          <a:xfrm>
            <a:off x="283884" y="24558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48"/>
          <p:cNvSpPr/>
          <p:nvPr/>
        </p:nvSpPr>
        <p:spPr>
          <a:xfrm>
            <a:off x="283884" y="323761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48"/>
          <p:cNvSpPr txBox="1"/>
          <p:nvPr>
            <p:ph type="title"/>
          </p:nvPr>
        </p:nvSpPr>
        <p:spPr>
          <a:xfrm>
            <a:off x="283850" y="285900"/>
            <a:ext cx="4227600" cy="2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Challenge (Current State)</a:t>
            </a:r>
            <a:endParaRPr sz="2200"/>
          </a:p>
        </p:txBody>
      </p:sp>
      <p:sp>
        <p:nvSpPr>
          <p:cNvPr id="382" name="Google Shape;382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8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Inconsistent User Experience across iOS/Android/Web (UI/UX).</a:t>
            </a:r>
            <a:endParaRPr sz="2000"/>
          </a:p>
        </p:txBody>
      </p:sp>
      <p:sp>
        <p:nvSpPr>
          <p:cNvPr id="384" name="Google Shape;384;p48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8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Frequent Application Crashes (Stability).</a:t>
            </a:r>
            <a:endParaRPr sz="2000"/>
          </a:p>
        </p:txBody>
      </p:sp>
      <p:sp>
        <p:nvSpPr>
          <p:cNvPr id="386" name="Google Shape;386;p48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8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High User Churn due to lack of trust in financial transactions.</a:t>
            </a:r>
            <a:endParaRPr sz="2000"/>
          </a:p>
        </p:txBody>
      </p:sp>
      <p:sp>
        <p:nvSpPr>
          <p:cNvPr id="388" name="Google Shape;388;p48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8"/>
          <p:cNvSpPr txBox="1"/>
          <p:nvPr>
            <p:ph idx="9" type="subTitle"/>
          </p:nvPr>
        </p:nvSpPr>
        <p:spPr>
          <a:xfrm>
            <a:off x="283850" y="3902925"/>
            <a:ext cx="86577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 Reach 99.9% Crash-Free sessions and 100% Functional Consistency.</a:t>
            </a:r>
            <a:endParaRPr sz="1800"/>
          </a:p>
        </p:txBody>
      </p:sp>
      <p:cxnSp>
        <p:nvCxnSpPr>
          <p:cNvPr id="390" name="Google Shape;390;p48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48"/>
          <p:cNvSpPr txBox="1"/>
          <p:nvPr/>
        </p:nvSpPr>
        <p:spPr>
          <a:xfrm>
            <a:off x="283850" y="9693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Current Issues: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49"/>
          <p:cNvSpPr txBox="1"/>
          <p:nvPr>
            <p:ph type="title"/>
          </p:nvPr>
        </p:nvSpPr>
        <p:spPr>
          <a:xfrm>
            <a:off x="283850" y="285900"/>
            <a:ext cx="5674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 – Diagnostic Approach</a:t>
            </a:r>
            <a:endParaRPr/>
          </a:p>
        </p:txBody>
      </p:sp>
      <p:sp>
        <p:nvSpPr>
          <p:cNvPr id="398" name="Google Shape;398;p49"/>
          <p:cNvSpPr txBox="1"/>
          <p:nvPr>
            <p:ph idx="1" type="body"/>
          </p:nvPr>
        </p:nvSpPr>
        <p:spPr>
          <a:xfrm>
            <a:off x="2457450" y="3022700"/>
            <a:ext cx="2055000" cy="14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Audit backend logs (ELK Stack) to find failed API handshakes.</a:t>
            </a:r>
            <a:endParaRPr sz="1800"/>
          </a:p>
        </p:txBody>
      </p:sp>
      <p:sp>
        <p:nvSpPr>
          <p:cNvPr id="399" name="Google Shape;399;p49"/>
          <p:cNvSpPr txBox="1"/>
          <p:nvPr>
            <p:ph idx="4" type="body"/>
          </p:nvPr>
        </p:nvSpPr>
        <p:spPr>
          <a:xfrm>
            <a:off x="4629750" y="2931000"/>
            <a:ext cx="2055000" cy="15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Audit differences between Staging and Production.</a:t>
            </a:r>
            <a:endParaRPr sz="1800"/>
          </a:p>
        </p:txBody>
      </p:sp>
      <p:sp>
        <p:nvSpPr>
          <p:cNvPr id="400" name="Google Shape;400;p49"/>
          <p:cNvSpPr txBox="1"/>
          <p:nvPr>
            <p:ph idx="5" type="body"/>
          </p:nvPr>
        </p:nvSpPr>
        <p:spPr>
          <a:xfrm>
            <a:off x="6802050" y="2930975"/>
            <a:ext cx="2054700" cy="15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Use Hotjar or FullStory to see exactly where users are clicking before a crash.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49"/>
          <p:cNvCxnSpPr/>
          <p:nvPr/>
        </p:nvCxnSpPr>
        <p:spPr>
          <a:xfrm>
            <a:off x="225525" y="13798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9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49"/>
          <p:cNvSpPr txBox="1"/>
          <p:nvPr>
            <p:ph idx="1" type="body"/>
          </p:nvPr>
        </p:nvSpPr>
        <p:spPr>
          <a:xfrm>
            <a:off x="225525" y="2930988"/>
            <a:ext cx="2055000" cy="18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Sentry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Firebase Crashlytics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to pull stack traces.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9"/>
          <p:cNvSpPr txBox="1"/>
          <p:nvPr/>
        </p:nvSpPr>
        <p:spPr>
          <a:xfrm>
            <a:off x="366775" y="1528800"/>
            <a:ext cx="490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Data-Driven Investigation:</a:t>
            </a:r>
            <a:endParaRPr b="1" sz="2000"/>
          </a:p>
        </p:txBody>
      </p:sp>
      <p:sp>
        <p:nvSpPr>
          <p:cNvPr id="405" name="Google Shape;405;p49"/>
          <p:cNvSpPr/>
          <p:nvPr/>
        </p:nvSpPr>
        <p:spPr>
          <a:xfrm>
            <a:off x="225525" y="2229900"/>
            <a:ext cx="1620900" cy="400200"/>
          </a:xfrm>
          <a:prstGeom prst="rect">
            <a:avLst/>
          </a:prstGeom>
          <a:solidFill>
            <a:srgbClr val="1257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Crash Analytics: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49"/>
          <p:cNvSpPr/>
          <p:nvPr/>
        </p:nvSpPr>
        <p:spPr>
          <a:xfrm>
            <a:off x="2310500" y="2209101"/>
            <a:ext cx="1620900" cy="400200"/>
          </a:xfrm>
          <a:prstGeom prst="rect">
            <a:avLst/>
          </a:prstGeom>
          <a:solidFill>
            <a:srgbClr val="1257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Log Analysis: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49"/>
          <p:cNvSpPr/>
          <p:nvPr/>
        </p:nvSpPr>
        <p:spPr>
          <a:xfrm>
            <a:off x="4512450" y="2195670"/>
            <a:ext cx="1849200" cy="400200"/>
          </a:xfrm>
          <a:prstGeom prst="rect">
            <a:avLst/>
          </a:prstGeom>
          <a:solidFill>
            <a:srgbClr val="1257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Environment Comparison: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49"/>
          <p:cNvSpPr/>
          <p:nvPr/>
        </p:nvSpPr>
        <p:spPr>
          <a:xfrm>
            <a:off x="6802050" y="2204600"/>
            <a:ext cx="1849200" cy="400200"/>
          </a:xfrm>
          <a:prstGeom prst="rect">
            <a:avLst/>
          </a:prstGeom>
          <a:solidFill>
            <a:srgbClr val="1257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 Heatmaps: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15" name="Google Shape;415;p50"/>
          <p:cNvSpPr txBox="1"/>
          <p:nvPr/>
        </p:nvSpPr>
        <p:spPr>
          <a:xfrm>
            <a:off x="284850" y="286800"/>
            <a:ext cx="4227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Test Strategy (The Pyramid)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50"/>
          <p:cNvSpPr txBox="1"/>
          <p:nvPr/>
        </p:nvSpPr>
        <p:spPr>
          <a:xfrm>
            <a:off x="133000" y="1751875"/>
            <a:ext cx="46602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Unit Tests (60%): Validating core fintech logic (Interest calcs, currency conversion).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17" name="Google Shape;417;p50" title="licensed-image.jpeg"/>
          <p:cNvPicPr preferRelativeResize="0"/>
          <p:nvPr/>
        </p:nvPicPr>
        <p:blipFill rotWithShape="1">
          <a:blip r:embed="rId3">
            <a:alphaModFix/>
          </a:blip>
          <a:srcRect b="0" l="-870" r="13845" t="0"/>
          <a:stretch/>
        </p:blipFill>
        <p:spPr>
          <a:xfrm>
            <a:off x="4887700" y="36525"/>
            <a:ext cx="4227302" cy="50437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50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50"/>
          <p:cNvSpPr txBox="1"/>
          <p:nvPr/>
        </p:nvSpPr>
        <p:spPr>
          <a:xfrm>
            <a:off x="133000" y="2636263"/>
            <a:ext cx="46602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Integration Tests (30%): Ensuring the Frontend, Payment Gateway, and Database communicate correctly.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227500" y="3676188"/>
            <a:ext cx="46602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E2E UI Tests (10%): High-value user journeys (Onboarding, Sending Money).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5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27" name="Google Shape;427;p51"/>
          <p:cNvSpPr txBox="1"/>
          <p:nvPr/>
        </p:nvSpPr>
        <p:spPr>
          <a:xfrm>
            <a:off x="284850" y="286800"/>
            <a:ext cx="62664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Addressing Device Inconsistency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51"/>
          <p:cNvSpPr txBox="1"/>
          <p:nvPr/>
        </p:nvSpPr>
        <p:spPr>
          <a:xfrm>
            <a:off x="133000" y="1751875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Cloud Device Farm: Implement BrowserStack or LambdaTest to run tests on 2000+ real device/OS combinations.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9" name="Google Shape;429;p5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51"/>
          <p:cNvSpPr txBox="1"/>
          <p:nvPr/>
        </p:nvSpPr>
        <p:spPr>
          <a:xfrm>
            <a:off x="133000" y="2636275"/>
            <a:ext cx="842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Visual Regression Testing: Use Applitools or Percy to automatically detect if a button is "off-pixel" on an iPhone SE vs. a Galaxy S24.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51"/>
          <p:cNvSpPr txBox="1"/>
          <p:nvPr/>
        </p:nvSpPr>
        <p:spPr>
          <a:xfrm>
            <a:off x="227500" y="36762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Responsive Breakpoint Audit: Enforce strict CSS standards for mobile, tablet, and desktop views.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7" name="Google Shape;437;p5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38" name="Google Shape;438;p52"/>
          <p:cNvSpPr txBox="1"/>
          <p:nvPr/>
        </p:nvSpPr>
        <p:spPr>
          <a:xfrm>
            <a:off x="284850" y="286800"/>
            <a:ext cx="62664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Automated Testing Framework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52"/>
          <p:cNvSpPr txBox="1"/>
          <p:nvPr/>
        </p:nvSpPr>
        <p:spPr>
          <a:xfrm>
            <a:off x="133000" y="1751875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Framework: Cypress (Web) / Appium (Mobile).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0" name="Google Shape;440;p52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52"/>
          <p:cNvSpPr txBox="1"/>
          <p:nvPr/>
        </p:nvSpPr>
        <p:spPr>
          <a:xfrm>
            <a:off x="133000" y="2636275"/>
            <a:ext cx="842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CI/CD Integration: Tests run automatically on GitHub Actions or Jenkins.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52"/>
          <p:cNvSpPr txBox="1"/>
          <p:nvPr/>
        </p:nvSpPr>
        <p:spPr>
          <a:xfrm>
            <a:off x="227500" y="36762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Shift-Left: Testing starts at the "Requirement" phase, not at the end of development.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3"/>
          <p:cNvSpPr txBox="1"/>
          <p:nvPr/>
        </p:nvSpPr>
        <p:spPr>
          <a:xfrm>
            <a:off x="284850" y="286800"/>
            <a:ext cx="62664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&amp; Exploratory Testing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53"/>
          <p:cNvSpPr txBox="1"/>
          <p:nvPr/>
        </p:nvSpPr>
        <p:spPr>
          <a:xfrm>
            <a:off x="133000" y="1751875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Ad-hoc Testing: Dedicated "Bug Bashes" where the team tries to break new features.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0" name="Google Shape;450;p53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53"/>
          <p:cNvSpPr txBox="1"/>
          <p:nvPr/>
        </p:nvSpPr>
        <p:spPr>
          <a:xfrm>
            <a:off x="133000" y="2636275"/>
            <a:ext cx="842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Accessibility (A11y): Ensuring the app is usable for users with visual impairments (Crucial for Fintech inclusivity).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53"/>
          <p:cNvSpPr txBox="1"/>
          <p:nvPr/>
        </p:nvSpPr>
        <p:spPr>
          <a:xfrm>
            <a:off x="227500" y="36762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Localization (L10n): Checking that currency symbols and date formats change correctly by region.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8" name="Google Shape;458;p54"/>
          <p:cNvSpPr txBox="1"/>
          <p:nvPr/>
        </p:nvSpPr>
        <p:spPr>
          <a:xfrm>
            <a:off x="284850" y="286800"/>
            <a:ext cx="62664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Performance &amp; Stress Testing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54"/>
          <p:cNvSpPr txBox="1"/>
          <p:nvPr/>
        </p:nvSpPr>
        <p:spPr>
          <a:xfrm>
            <a:off x="133000" y="1751875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 Testing: Simulating 10,000+ concurrent users to ensure the "Core Banking System" doesn't buckle.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0" name="Google Shape;460;p54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54"/>
          <p:cNvSpPr txBox="1"/>
          <p:nvPr/>
        </p:nvSpPr>
        <p:spPr>
          <a:xfrm>
            <a:off x="133000" y="2636275"/>
            <a:ext cx="842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Stress Testing: Finding the "Breaking Point" to establish auto-scaling rules for servers.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54"/>
          <p:cNvSpPr txBox="1"/>
          <p:nvPr/>
        </p:nvSpPr>
        <p:spPr>
          <a:xfrm>
            <a:off x="227500" y="36762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Tooling: k6 or JMeter.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55"/>
          <p:cNvSpPr txBox="1"/>
          <p:nvPr/>
        </p:nvSpPr>
        <p:spPr>
          <a:xfrm>
            <a:off x="284850" y="286800"/>
            <a:ext cx="62664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Recommendations for Long-term Quality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55"/>
          <p:cNvSpPr txBox="1"/>
          <p:nvPr/>
        </p:nvSpPr>
        <p:spPr>
          <a:xfrm>
            <a:off x="133000" y="1751875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Code Review Culture: Mandatory QA review of "Testability" before code merge.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0" name="Google Shape;470;p55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55"/>
          <p:cNvSpPr txBox="1"/>
          <p:nvPr/>
        </p:nvSpPr>
        <p:spPr>
          <a:xfrm>
            <a:off x="133000" y="2636275"/>
            <a:ext cx="842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Observability: Moving from "Reactive" (fixing bugs users report) to "Proactive" (fixing bugs the logs show before users notice).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55"/>
          <p:cNvSpPr txBox="1"/>
          <p:nvPr/>
        </p:nvSpPr>
        <p:spPr>
          <a:xfrm>
            <a:off x="227500" y="36762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Zero-Debt Policy: Dedicating 20% of every "Sprint" to fixing technical debt and bugs.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5766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56"/>
          <p:cNvSpPr txBox="1"/>
          <p:nvPr/>
        </p:nvSpPr>
        <p:spPr>
          <a:xfrm>
            <a:off x="284850" y="286800"/>
            <a:ext cx="62664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Conclusion &amp; Next Steps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56"/>
          <p:cNvSpPr txBox="1"/>
          <p:nvPr/>
        </p:nvSpPr>
        <p:spPr>
          <a:xfrm>
            <a:off x="133000" y="1751875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Immediate Action (Next 48 Hours): Implement Sentry and identify the Top 3 crash causes.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80" name="Google Shape;480;p5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56"/>
          <p:cNvSpPr txBox="1"/>
          <p:nvPr/>
        </p:nvSpPr>
        <p:spPr>
          <a:xfrm>
            <a:off x="133000" y="2636275"/>
            <a:ext cx="84291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Short Term (2 Weeks): Automate the "Happy Path" (Login -&gt; Transfer -&gt; Logout).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56"/>
          <p:cNvSpPr txBox="1"/>
          <p:nvPr/>
        </p:nvSpPr>
        <p:spPr>
          <a:xfrm>
            <a:off x="43450" y="32178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Long Term (3 Months): achieve 90% automated regression coverage.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56"/>
          <p:cNvSpPr txBox="1"/>
          <p:nvPr/>
        </p:nvSpPr>
        <p:spPr>
          <a:xfrm>
            <a:off x="133000" y="4061700"/>
            <a:ext cx="8264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Closing Quote: "In Fintech, Quality is not just a feature; it is the foundation of Trust."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